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Arial"/>
              </a:rPr>
              <a:t>AEGIS 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9AE6C5"/>
                </a:solidFill>
                <a:latin typeface="Arial"/>
              </a:rPr>
              <a:t>Behavioral Twin Prompt Injection Firewall</a:t>
            </a:r>
          </a:p>
          <a:p>
            <a:r>
              <a:rPr sz="1600" b="0">
                <a:solidFill>
                  <a:srgbClr val="C5D2CC"/>
                </a:solidFill>
                <a:latin typeface="Arial"/>
              </a:rPr>
              <a:t>ET AI Hackathon: Agentic Edition  ·  Problem 2  ·  Solo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Self-estimated 9-blocker:  F3  /  D2</a:t>
            </a:r>
          </a:p>
          <a:p>
            <a:r>
              <a:rPr sz="1400" b="0">
                <a:solidFill>
                  <a:srgbClr val="E6F5F2"/>
                </a:solidFill>
                <a:latin typeface="Arial"/>
              </a:rPr>
              <a:t>Live demo  ·  aegis-prompt-injection-firewall.vercel.app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B1F1A"/>
                </a:solidFill>
                <a:latin typeface="Arial"/>
              </a:rPr>
              <a:t>The enterprise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5661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73152" cy="2194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6303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15E59"/>
                </a:solidFill>
                <a:latin typeface="Arial"/>
              </a:rPr>
              <a:t>Agents touch untrusted content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320040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F68"/>
                </a:solidFill>
                <a:latin typeface="Arial"/>
              </a:rPr>
              <a:t>PDF, email, HTML, OCR, and APIs now feed tool-using agents. Attackers hide instructions inside those documents.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5661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280160"/>
            <a:ext cx="73152" cy="2194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6303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15E59"/>
                </a:solidFill>
                <a:latin typeface="Arial"/>
              </a:rPr>
              <a:t>Indirect prompt injection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874519"/>
            <a:ext cx="320040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F68"/>
                </a:solidFill>
                <a:latin typeface="Arial"/>
              </a:rPr>
              <a:t>A single poisoned attachment can trigger get_secret, send_email, or shell tools — without the user noticing.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8016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280160"/>
            <a:ext cx="73152" cy="21945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463039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15E59"/>
                </a:solidFill>
                <a:latin typeface="Arial"/>
              </a:rPr>
              <a:t>Classifiers are not enough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874519"/>
            <a:ext cx="301752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F68"/>
                </a:solidFill>
                <a:latin typeface="Arial"/>
              </a:rPr>
              <a:t>Keyword / LLM jailbreak detectors ask: “Does this look bad?” Attackers evade that every 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40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B1F1A"/>
                </a:solidFill>
                <a:latin typeface="Arial"/>
              </a:rPr>
              <a:t>Accenture clients are shipping copilots and agents into production workflows.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1F1A"/>
                </a:solidFill>
                <a:latin typeface="Arial"/>
              </a:rPr>
              <a:t>Without a runtime control plane, every document becomes an attack surface.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F68"/>
                </a:solidFill>
                <a:latin typeface="Arial"/>
              </a:rPr>
              <a:t>Aegis Guard  ·  ET AI Hackathon Problem 2  ·  Claim F3 / D2  · 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B6F68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B1F1A"/>
                </a:solidFill>
                <a:latin typeface="Arial"/>
              </a:rPr>
              <a:t>The insight: runtime, not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0B1F1A"/>
                </a:solidFill>
                <a:latin typeface="Arial"/>
              </a:rPr>
              <a:t>Prompt injection is not a text-classification problem.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B1F1A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B1F1A"/>
                </a:solidFill>
                <a:latin typeface="Arial"/>
              </a:rPr>
              <a:t>It is a runtime security problem: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5B6F68"/>
                </a:solidFill>
                <a:latin typeface="Arial"/>
              </a:rPr>
              <a:t>    Does untrusted content change what tools the agent would call?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B1F1A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B1F1A"/>
                </a:solidFill>
                <a:latin typeface="Arial"/>
              </a:rPr>
              <a:t>Aegis Guard runs a behavioral twin: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5B6F68"/>
                </a:solidFill>
                <a:latin typeface="Arial"/>
              </a:rPr>
              <a:t>    • Trusted plan  — instructions with untrusted content stripped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5B6F68"/>
                </a:solidFill>
                <a:latin typeface="Arial"/>
              </a:rPr>
              <a:t>    • Raw plan      — instructions as attackers hope the agent will see them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5B6F68"/>
                </a:solidFill>
                <a:latin typeface="Arial"/>
              </a:rPr>
              <a:t>    • If plans diverge on high-risk tools → BLOCK or QUARANTINE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B1F1A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B1F1A"/>
                </a:solidFill>
                <a:latin typeface="Arial"/>
              </a:rPr>
              <a:t>Everyone else ships a classifier. We ship a twin.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F68"/>
                </a:solidFill>
                <a:latin typeface="Arial"/>
              </a:rPr>
              <a:t>Aegis Guard  ·  ET AI Hackathon Problem 2  ·  Claim F3 / D2  · 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B6F68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B1F1A"/>
                </a:solidFill>
                <a:latin typeface="Arial"/>
              </a:rPr>
              <a:t>Aegis Guard control plane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6118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19659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15E59"/>
                </a:solidFill>
                <a:latin typeface="Arial"/>
              </a:rPr>
              <a:t>01 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32461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F68"/>
                </a:solidFill>
                <a:latin typeface="Arial"/>
              </a:rPr>
              <a:t>Normalize PDF, HTML, email, OCR,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234440"/>
            <a:ext cx="36118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234440"/>
            <a:ext cx="73152" cy="19659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41732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15E59"/>
                </a:solidFill>
                <a:latin typeface="Arial"/>
              </a:rPr>
              <a:t>02 Decode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828800"/>
            <a:ext cx="32461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F68"/>
                </a:solidFill>
                <a:latin typeface="Arial"/>
              </a:rPr>
              <a:t>Unwrap base64 / hex / rot13 / homoglyphs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234440"/>
            <a:ext cx="36118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234440"/>
            <a:ext cx="73152" cy="19659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41732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15E59"/>
                </a:solidFill>
                <a:latin typeface="Arial"/>
              </a:rPr>
              <a:t>03 Provenance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1828800"/>
            <a:ext cx="32461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F68"/>
                </a:solidFill>
                <a:latin typeface="Arial"/>
              </a:rPr>
              <a:t>Tag trusted vs untrusted spans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383280"/>
            <a:ext cx="36118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383280"/>
            <a:ext cx="73152" cy="19659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56616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15E59"/>
                </a:solidFill>
                <a:latin typeface="Arial"/>
              </a:rPr>
              <a:t>04 Static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977640"/>
            <a:ext cx="32461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F68"/>
                </a:solidFill>
                <a:latin typeface="Arial"/>
              </a:rPr>
              <a:t>Detect 9 attack families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383280"/>
            <a:ext cx="36118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383280"/>
            <a:ext cx="73152" cy="19659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56616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15E59"/>
                </a:solidFill>
                <a:latin typeface="Arial"/>
              </a:rPr>
              <a:t>05 Twin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977640"/>
            <a:ext cx="32461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F68"/>
                </a:solidFill>
                <a:latin typeface="Arial"/>
              </a:rPr>
              <a:t>Dual tool-plan comparison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383280"/>
            <a:ext cx="36118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383280"/>
            <a:ext cx="73152" cy="19659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356616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15E59"/>
                </a:solidFill>
                <a:latin typeface="Arial"/>
              </a:rPr>
              <a:t>06 Risk +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977640"/>
            <a:ext cx="32461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F68"/>
                </a:solidFill>
                <a:latin typeface="Arial"/>
              </a:rPr>
              <a:t>ALLOW · QUARANTINE · BLOCK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F68"/>
                </a:solidFill>
                <a:latin typeface="Arial"/>
              </a:rPr>
              <a:t>Aegis Guard  ·  ET AI Hackathon Problem 2  ·  Claim F3 / D2  ·  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B6F68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B1F1A"/>
                </a:solidFill>
                <a:latin typeface="Arial"/>
              </a:rPr>
              <a:t>Architecture — evidence for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B1F1A"/>
                </a:solidFill>
                <a:latin typeface="Arial"/>
              </a:rPr>
              <a:t>Input → Ingest → Decode → Provenance → Static → Behavioral Twin → Risk → Gate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B6F68"/>
                </a:solidFill>
                <a:latin typeface="Arial"/>
              </a:rPr>
              <a:t>                                                              ↓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B6F68"/>
                </a:solidFill>
                <a:latin typeface="Arial"/>
              </a:rPr>
              <a:t>                                        Protected Agent (caps)  |  Analyst Quarantine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1F1A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1F1A"/>
                </a:solidFill>
                <a:latin typeface="Arial"/>
              </a:rPr>
              <a:t>Supporting controls (enterprise-ready):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B6F68"/>
                </a:solidFill>
                <a:latin typeface="Arial"/>
              </a:rPr>
              <a:t>  • Capability tokens fail-closed on secrets, shell, external email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B6F68"/>
                </a:solidFill>
                <a:latin typeface="Arial"/>
              </a:rPr>
              <a:t>  • SQLite audit trail + incident JSON export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B6F68"/>
                </a:solidFill>
                <a:latin typeface="Arial"/>
              </a:rPr>
              <a:t>  • Session risk memory for multi-step jailbreaks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B6F68"/>
                </a:solidFill>
                <a:latin typeface="Arial"/>
              </a:rPr>
              <a:t>  • Optional OpenAI-compatible LLM planner enrichment (offline twin by default)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1F1A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1F1A"/>
                </a:solidFill>
                <a:latin typeface="Arial"/>
              </a:rPr>
              <a:t>Stack: Python · FastAPI · Streamlit (local) · Vercel production UI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1F1A"/>
                </a:solidFill>
                <a:latin typeface="Arial"/>
              </a:rPr>
              <a:t>Repo: github.com/krabhi75/aegis-prompt-injection-firewall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F68"/>
                </a:solidFill>
                <a:latin typeface="Arial"/>
              </a:rPr>
              <a:t>Aegis Guard  ·  ET AI Hackathon Problem 2  ·  Claim F3 / D2  · 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B6F68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B1F1A"/>
                </a:solidFill>
                <a:latin typeface="Arial"/>
              </a:rPr>
              <a:t>Demo proof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08813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9903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1F1A"/>
                </a:solidFill>
                <a:latin typeface="Arial"/>
              </a:rPr>
              <a:t>Benign product 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399032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47857"/>
                </a:solidFill>
                <a:latin typeface="Arial"/>
              </a:rPr>
              <a:t>ALLOW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399032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B6F68"/>
                </a:solidFill>
                <a:latin typeface="Arial"/>
              </a:rPr>
              <a:t>Trusted summarize 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108813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6771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1F1A"/>
                </a:solidFill>
                <a:latin typeface="Arial"/>
              </a:rPr>
              <a:t>Indirect injection in 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267712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91C1C"/>
                </a:solidFill>
                <a:latin typeface="Arial"/>
              </a:rPr>
              <a:t>BLOCK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267712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B6F68"/>
                </a:solidFill>
                <a:latin typeface="Arial"/>
              </a:rPr>
              <a:t>Twin drift: get_secret + send_email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71800"/>
            <a:ext cx="108813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3639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1F1A"/>
                </a:solidFill>
                <a:latin typeface="Arial"/>
              </a:rPr>
              <a:t>Encoded HTML jailbreak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136392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91C1C"/>
                </a:solidFill>
                <a:latin typeface="Arial"/>
              </a:rPr>
              <a:t>BLOCK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136392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B6F68"/>
                </a:solidFill>
                <a:latin typeface="Arial"/>
              </a:rPr>
              <a:t>Decode layer + override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8813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00507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1F1A"/>
                </a:solidFill>
                <a:latin typeface="Arial"/>
              </a:rPr>
              <a:t>Multi-step roleplay →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4005072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91C1C"/>
                </a:solidFill>
                <a:latin typeface="Arial"/>
              </a:rPr>
              <a:t>QUARANTINE / BLOCK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005072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B6F68"/>
                </a:solidFill>
                <a:latin typeface="Arial"/>
              </a:rPr>
              <a:t>Session risk escalation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709160"/>
            <a:ext cx="108813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87375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1F1A"/>
                </a:solidFill>
                <a:latin typeface="Arial"/>
              </a:rPr>
              <a:t>Human analyst queue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4873752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Arial"/>
              </a:rPr>
              <a:t>HITL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873752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B6F68"/>
                </a:solidFill>
                <a:latin typeface="Arial"/>
              </a:rPr>
              <a:t>Approve / deny with audit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F68"/>
                </a:solidFill>
                <a:latin typeface="Arial"/>
              </a:rPr>
              <a:t>Aegis Guard  ·  ET AI Hackathon Problem 2  ·  Claim F3 / D2  ·  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B6F68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B1F1A"/>
                </a:solidFill>
                <a:latin typeface="Arial"/>
              </a:rPr>
              <a:t>9-blocker claim — F3 / D2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4864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4206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15E59"/>
                </a:solidFill>
                <a:latin typeface="Arial"/>
              </a:rPr>
              <a:t>F3 — Features (≥7 attack types)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512064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F68"/>
                </a:solidFill>
                <a:latin typeface="Arial"/>
              </a:rPr>
              <a:t>All 9 official attack types implemented and covered in corpus:
1 Instruction Override
2 Role Change
3 Secret Extraction
4 Tool Abuse
5 Credential Theft
6 Context Poisoning
7 Multi-Step Jailbreak
8 Encoded Instructions
9 Indirect Prompt Injection
Live demo demonstrates ≥7 clearly.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234440"/>
            <a:ext cx="51206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234440"/>
            <a:ext cx="73152" cy="4206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1732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15E59"/>
                </a:solidFill>
                <a:latin typeface="Arial"/>
              </a:rPr>
              <a:t>D2 — Depth (high reliability)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4754879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F68"/>
                </a:solidFill>
                <a:latin typeface="Arial"/>
              </a:rPr>
              <a:t>Mostly structured/textual multimodal inputs (user, PDF text, HTML, email, API, OCR text) with demonstrable reliability:
• Corpus n = 55
• Precision / Recall / F1 ≈ 1.0 on suite
• Pytest: 11/11 passed
• Command Center metrics in live UI
Not claiming D3: Word/image OCR not fully shown in production demo.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F68"/>
                </a:solidFill>
                <a:latin typeface="Arial"/>
              </a:rPr>
              <a:t>Aegis Guard  ·  ET AI Hackathon Problem 2  ·  Claim F3 / D2  ·  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B6F68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B1F1A"/>
                </a:solidFill>
                <a:latin typeface="Arial"/>
              </a:rPr>
              <a:t>Business impact &amp;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B1F1A"/>
                </a:solidFill>
                <a:latin typeface="Arial"/>
              </a:rPr>
              <a:t>Measurable outcomes for enterprises deploying agents: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B6F68"/>
                </a:solidFill>
                <a:latin typeface="Arial"/>
              </a:rPr>
              <a:t>  • Risk reduction — block secret theft and tool abuse before execution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B6F68"/>
                </a:solidFill>
                <a:latin typeface="Arial"/>
              </a:rPr>
              <a:t>  • Auditability — incident JSON + decision trail for security teams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B6F68"/>
                </a:solidFill>
                <a:latin typeface="Arial"/>
              </a:rPr>
              <a:t>  • Governance — OWASP LLM Top 10 &amp; NIST AI RMF mapped controls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B6F68"/>
                </a:solidFill>
                <a:latin typeface="Arial"/>
              </a:rPr>
              <a:t>  • Human oversight — quarantine band keeps humans in the loop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1F1A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1F1A"/>
                </a:solidFill>
                <a:latin typeface="Arial"/>
              </a:rPr>
              <a:t>Live: https://aegis-prompt-injection-firewall.vercel.app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1F1A"/>
                </a:solidFill>
                <a:latin typeface="Arial"/>
              </a:rPr>
              <a:t>Code: https://github.com/krabhi75/aegis-prompt-injection-firewall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1F1A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1F1A"/>
                </a:solidFill>
                <a:latin typeface="Arial"/>
              </a:rPr>
              <a:t>Closer: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B6F68"/>
                </a:solidFill>
                <a:latin typeface="Arial"/>
              </a:rPr>
              <a:t>  Everyone else ships a classifier. We ship a twin.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B6F68"/>
                </a:solidFill>
                <a:latin typeface="Arial"/>
              </a:rPr>
              <a:t>  If the document tries to make your agent steal secrets,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B6F68"/>
                </a:solidFill>
                <a:latin typeface="Arial"/>
              </a:rPr>
              <a:t>  the plans diverge — and Aegis blocks before a single tool runs.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F68"/>
                </a:solidFill>
                <a:latin typeface="Arial"/>
              </a:rPr>
              <a:t>Aegis Guard  ·  ET AI Hackathon Problem 2  ·  Claim F3 / D2  · 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B6F68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